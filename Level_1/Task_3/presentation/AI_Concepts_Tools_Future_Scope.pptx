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2992fb91-814c-4efa-b732-55cd00c2bbd9.fntdata" /><ns0:Relationship Id="rIdFont21" Type="http://schemas.openxmlformats.org/officeDocument/2006/relationships/font" Target="fonts/e2a4e576-c044-49a6-bb9a-958e46dda02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00"/>
            <a:ext cx="1343025" cy="257175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292798"/>
            <a:ext cx="8572500" cy="6191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292798"/>
            <a:ext cx="857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514350"/>
            <a:ext cx="1209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FFFFFF"/>
                </a:solidFill>
                <a:latin typeface="Inter"/>
              </a:rPr>
              <a:t>LEVEL 1 – TASK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5025" y="504825"/>
            <a:ext cx="34290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RaushByte Technologies | AI/ML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36576"/>
            <a:ext cx="9101137" cy="10513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b="1" sz="3600" i="0" u="none">
                <a:solidFill>
                  <a:srgbClr val="F8FAFC"/>
                </a:solidFill>
                <a:latin typeface="Inter"/>
              </a:rPr>
              <a:t>Artificial Intelligence: Concepts, Tools, Applications and Future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78398"/>
            <a:ext cx="86677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A comprehensive overview of foundational AI concepts, modern development toolchains, real-world domains, and responsible engineering practices.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530923"/>
            <a:ext cx="1190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PREPARED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721423"/>
            <a:ext cx="1190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AI/ML Intern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19275" y="4530923"/>
            <a:ext cx="22740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ORGANIZATION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9275" y="4721423"/>
            <a:ext cx="2274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RaushByte 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43350" y="4530923"/>
            <a:ext cx="152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43350" y="4721423"/>
            <a:ext cx="152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2E8F0"/>
                </a:solidFill>
                <a:latin typeface="Inter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81700" y="2638425"/>
            <a:ext cx="5600700" cy="2486025"/>
          </a:xfrm>
          <a:prstGeom prst="roundRect">
            <a:avLst>
              <a:gd name="adj" fmla="val 613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943225"/>
            <a:ext cx="4991100" cy="495300"/>
          </a:xfrm>
          <a:prstGeom prst="roundRect">
            <a:avLst>
              <a:gd name="adj" fmla="val 1923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86500" y="4410075"/>
            <a:ext cx="4991100" cy="409575"/>
          </a:xfrm>
          <a:prstGeom prst="roundRect">
            <a:avLst>
              <a:gd name="adj" fmla="val 1860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664148"/>
            <a:ext cx="49911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197548"/>
            <a:ext cx="49911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9600" y="4730948"/>
            <a:ext cx="499110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86500" y="3629025"/>
            <a:ext cx="15621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3629025"/>
            <a:ext cx="15621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715500" y="3629025"/>
            <a:ext cx="1562100" cy="59055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787973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21373"/>
            <a:ext cx="1905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854773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46101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Foundations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91825" y="676275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2 of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85800"/>
            <a:ext cx="592574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What is Artificial Intelligence?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2612677"/>
            <a:ext cx="50863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Computer systems that perform tasks normally requiring human intelligence, powered by massive data, affordable computing, and advanced algorithms.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1212" y="3095625"/>
            <a:ext cx="57816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ARTIFICIAL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76912" y="4524375"/>
            <a:ext cx="60102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0F172A"/>
                </a:solidFill>
                <a:latin typeface="Inter"/>
              </a:rPr>
              <a:t>Intelligent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4587" y="3762375"/>
            <a:ext cx="16859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4155"/>
                </a:solidFill>
                <a:latin typeface="Inter"/>
              </a:rPr>
              <a:t>Understand Information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39087" y="3762375"/>
            <a:ext cx="16859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4155"/>
                </a:solidFill>
                <a:latin typeface="Inter"/>
              </a:rPr>
              <a:t>Learn from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3587" y="3762375"/>
            <a:ext cx="16859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4155"/>
                </a:solidFill>
                <a:latin typeface="Inter"/>
              </a:rPr>
              <a:t>Make Predictions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5375" y="3778448"/>
            <a:ext cx="4667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Understand language: voice assistants, 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800" y="4311848"/>
            <a:ext cx="42267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Recognize images: face unlock, photo tagging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7750" y="4845248"/>
            <a:ext cx="43695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Find patterns &amp; make predictions: spam filtering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52712"/>
            <a:ext cx="560070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5100" y="2476500"/>
            <a:ext cx="50673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15100" y="3438525"/>
            <a:ext cx="50673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15100" y="4400550"/>
            <a:ext cx="50673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3271837"/>
            <a:ext cx="5067300" cy="409575"/>
          </a:xfrm>
          <a:prstGeom prst="roundRect">
            <a:avLst>
              <a:gd name="adj" fmla="val 1860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5375" y="3833812"/>
            <a:ext cx="4848225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5375" y="4357687"/>
            <a:ext cx="4848225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14450" y="4357687"/>
            <a:ext cx="4629150" cy="409575"/>
          </a:xfrm>
          <a:prstGeom prst="roundRect">
            <a:avLst>
              <a:gd name="adj" fmla="val 186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5375" y="4357687"/>
            <a:ext cx="28575" cy="409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46958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1825" y="676275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3 of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6038254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Major AI Concepts &amp; Hierarchy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2919412"/>
            <a:ext cx="66508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E293B"/>
                </a:solidFill>
                <a:latin typeface="Inter"/>
              </a:rPr>
              <a:t>Core AI Hierarchy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386137"/>
            <a:ext cx="48577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F172A"/>
                </a:solidFill>
                <a:latin typeface="Inter"/>
              </a:rPr>
              <a:t>Artificial Intelligence (Broadest Field)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2667000"/>
            <a:ext cx="548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Natural Language Processing (NLP)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2914650"/>
            <a:ext cx="5486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Understanding &amp; generating language (e.g., Google Translate).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600" y="3629025"/>
            <a:ext cx="548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Computer Vision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5600" y="3876675"/>
            <a:ext cx="5486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Understanding images &amp; video (e.g., medical X-ray screening).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05600" y="4591050"/>
            <a:ext cx="5486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Generative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5600" y="4838700"/>
            <a:ext cx="5486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Creating new text, images &amp; code (e.g., ChatGPT).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7775" y="3948112"/>
            <a:ext cx="4638675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Machine Learning (Learning patterns)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4471987"/>
            <a:ext cx="44196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293B"/>
                </a:solidFill>
                <a:latin typeface="Inter"/>
              </a:rPr>
              <a:t>Deep Learning (Neural Networks)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451" y="2981325"/>
            <a:ext cx="17018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63700" y="2981325"/>
            <a:ext cx="17018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17950" y="2981325"/>
            <a:ext cx="17018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2981325"/>
            <a:ext cx="17018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26449" y="2981325"/>
            <a:ext cx="17018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80699" y="2981325"/>
            <a:ext cx="1701849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07901" y="3133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162151" y="3133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16400" y="3133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70650" y="3133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724900" y="3133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79149" y="3133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6072187"/>
            <a:ext cx="17145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22098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1825" y="676275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4 of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" y="6067425"/>
            <a:ext cx="10918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293B"/>
                </a:solidFill>
                <a:latin typeface="Inter"/>
              </a:rPr>
              <a:t>Note: Not all AI systems use learning workflows. Rule-based systems (e.g. pattern-matching chatbots) require no training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85800"/>
            <a:ext cx="277534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How AI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026" y="31337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3562" y="3533775"/>
            <a:ext cx="183362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Inter"/>
              </a:rPr>
              <a:t>Data Collection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219" y="3733800"/>
            <a:ext cx="1746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Gathering examples.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9276" y="31337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7811" y="3533775"/>
            <a:ext cx="183362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Inter"/>
              </a:rPr>
              <a:t>Preprocessing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1469" y="3733800"/>
            <a:ext cx="1746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Cleaning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525" y="31337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2061" y="3533775"/>
            <a:ext cx="183362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Inter"/>
              </a:rPr>
              <a:t>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5719" y="3733800"/>
            <a:ext cx="1746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Adjusting weights.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7775" y="31337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06310" y="3533775"/>
            <a:ext cx="183362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Inter"/>
              </a:rPr>
              <a:t>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49968" y="3733800"/>
            <a:ext cx="1746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Testing accuracy.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82025" y="31337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0560" y="3533775"/>
            <a:ext cx="183362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Inter"/>
              </a:rPr>
              <a:t>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4218" y="3733800"/>
            <a:ext cx="1746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Live prediction.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36274" y="3133725"/>
            <a:ext cx="59055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975" i="0" u="none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4810" y="3533775"/>
            <a:ext cx="183362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Inter"/>
              </a:rPr>
              <a:t>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58468" y="3733800"/>
            <a:ext cx="174631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64748B"/>
                </a:solidFill>
                <a:latin typeface="Inter"/>
              </a:rPr>
              <a:t>Tracking drift.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33637"/>
            <a:ext cx="10972800" cy="281940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433637"/>
          <a:ext cx="10972799" cy="2819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02966"/>
                <a:gridCol w="3288506"/>
                <a:gridCol w="5381327"/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Inter"/>
                        </a:rPr>
                        <a:t>What They Actually 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Programming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Python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Programming language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Data Handling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NumPy, Pandas, Scikit-learn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Python libraries &amp; classical ML algorithms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Deep Learning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TensorFlow, PyTorch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Frameworks for building &amp; training neural networks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NLP / GenAI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Hugging Face, LangChain, LLMs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Model hub, app framework &amp; AI models themselves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Building &amp; Deploying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2563EB"/>
                          </a:solidFill>
                          <a:latin typeface="Inter"/>
                        </a:rPr>
                        <a:t>Streamlit, FastAPI, Docker, Git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UI framework, web API, containerization &amp; version control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40386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1350" y="676275"/>
            <a:ext cx="1066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5 of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517564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AI Technologies and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200275"/>
            <a:ext cx="5638800" cy="3286125"/>
          </a:xfrm>
          <a:prstGeom prst="roundRect">
            <a:avLst>
              <a:gd name="adj" fmla="val 46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6537"/>
            <a:ext cx="50292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19537"/>
            <a:ext cx="5029200" cy="990600"/>
          </a:xfrm>
          <a:prstGeom prst="roundRect">
            <a:avLst>
              <a:gd name="adj" fmla="val 11538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51290" y="2933700"/>
            <a:ext cx="402327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51290" y="3810000"/>
            <a:ext cx="4023270" cy="495300"/>
          </a:xfrm>
          <a:prstGeom prst="roundRect">
            <a:avLst>
              <a:gd name="adj" fmla="val 1538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51290" y="4686300"/>
            <a:ext cx="402327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3919537"/>
            <a:ext cx="38100" cy="990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0" y="3543300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0" y="4419600"/>
            <a:ext cx="11430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64103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Advanced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91825" y="676275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6 of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828853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Generative AI and Large Language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7625" y="2505075"/>
            <a:ext cx="2190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E293B"/>
                </a:solidFill>
                <a:latin typeface="Inter"/>
              </a:rPr>
              <a:t>LLM Interaction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6981" y="3086100"/>
            <a:ext cx="45718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User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981" y="3962400"/>
            <a:ext cx="45718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LLM (Predicts Next Word)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6981" y="4838700"/>
            <a:ext cx="4571888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34155"/>
                </a:solidFill>
                <a:latin typeface="Inter"/>
              </a:rPr>
              <a:t>Generated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2967037"/>
            <a:ext cx="61007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Capabilities &amp; 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214687"/>
            <a:ext cx="4743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Generates text, images, audio &amp; code. Powers chatbots, coding assistants, summarization, and document Q&amp;A.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110037"/>
            <a:ext cx="60507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91B1B"/>
                </a:solidFill>
                <a:latin typeface="Inter"/>
              </a:rPr>
              <a:t>Critical Limitations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357687"/>
            <a:ext cx="4705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7F1D1D"/>
                </a:solidFill>
                <a:latin typeface="Inter"/>
              </a:rPr>
              <a:t>Susceptible to hallucinations, data bias, context window limits, and privacy concerns.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9412"/>
            <a:ext cx="190500" cy="15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05287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90787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062537"/>
            <a:ext cx="15240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348037"/>
            <a:ext cx="1524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633912"/>
            <a:ext cx="1524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776662"/>
            <a:ext cx="1524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5491162"/>
            <a:ext cx="1143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490787"/>
            <a:ext cx="15240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9412"/>
            <a:ext cx="1905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348037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3776662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05287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633912"/>
            <a:ext cx="15240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5062537"/>
            <a:ext cx="15240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5491162"/>
            <a:ext cx="114300" cy="152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09600" y="1909762"/>
            <a:ext cx="10972800" cy="386715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09600" y="1909762"/>
          <a:ext cx="10972799" cy="38671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663850"/>
                <a:gridCol w="7308949"/>
              </a:tblGrid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Domain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Key AI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/>
                    </a:solidFill>
                  </a:tcPr>
                </a:tc>
              </a:tr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Healthcare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Disease detection, medical imaging analysis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Education</a:t>
                      </a:r>
                    </a:p>
                  </a:txBody>
                  <a:tcPr anchor="ctr" marL="3810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Personalized learning, AI tutors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Business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Forecasting, chatbots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Finance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Fraud detection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Transportation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Navigation, autonomous systems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Agriculture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Crop monitoring and prediction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683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Entertainment</a:t>
                      </a:r>
                    </a:p>
                  </a:txBody>
                  <a:tcPr anchor="ctr" marL="3429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Recommendation systems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968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E293B"/>
                          </a:solidFill>
                          <a:latin typeface="Inter"/>
                        </a:rPr>
                        <a:t>Daily Life</a:t>
                      </a:r>
                    </a:p>
                  </a:txBody>
                  <a:tcPr anchor="ctr" marL="3048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"/>
                        </a:rPr>
                        <a:t>Voice assistants, smart devices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09600" y="457200"/>
            <a:ext cx="31623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Applications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1350" y="676275"/>
            <a:ext cx="1066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7 of 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685800"/>
            <a:ext cx="4025503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Real-World Domains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121693"/>
            <a:ext cx="3530500" cy="790575"/>
          </a:xfrm>
          <a:prstGeom prst="roundRect">
            <a:avLst>
              <a:gd name="adj" fmla="val 144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2040731"/>
            <a:ext cx="3530649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2040731"/>
            <a:ext cx="353050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693443"/>
            <a:ext cx="353050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600" y="4774406"/>
            <a:ext cx="3530649" cy="790575"/>
          </a:xfrm>
          <a:prstGeom prst="roundRect">
            <a:avLst>
              <a:gd name="adj" fmla="val 144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750" y="4774406"/>
            <a:ext cx="3530500" cy="790575"/>
          </a:xfrm>
          <a:prstGeom prst="roundRect">
            <a:avLst>
              <a:gd name="adj" fmla="val 1445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55245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1825" y="676275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8 of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85800"/>
            <a:ext cx="712589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AI Tools and Development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312193"/>
            <a:ext cx="41337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1. Problem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559843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Establishing clear project objectives and metrics.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100" y="2231231"/>
            <a:ext cx="413391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2. Data Collection &amp; Cleaning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100" y="2478881"/>
            <a:ext cx="3244899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Gathering and preparing datasets (Python, Pandas).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2250" y="2231231"/>
            <a:ext cx="39497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3. EDA &amp; Model Selection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2250" y="2478881"/>
            <a:ext cx="3244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Analyzing data and choosing algorithms (Scikit-learn).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4883943"/>
            <a:ext cx="41337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4. Training &amp;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5131593"/>
            <a:ext cx="3244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Optimizing weights (TensorFlow, PyTorch, Hugging Face).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1100" y="4964906"/>
            <a:ext cx="413391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5.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100" y="5212556"/>
            <a:ext cx="3937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Serving apps and APIs (Streamlit, FastAPI).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250" y="4964906"/>
            <a:ext cx="39497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6. Monitoring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2250" y="5212556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Tracking production drift and model maintenance.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3200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43200"/>
            <a:ext cx="5334000" cy="2200275"/>
          </a:xfrm>
          <a:prstGeom prst="roundRect">
            <a:avLst>
              <a:gd name="adj" fmla="val 6926"/>
            </a:avLst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743200"/>
            <a:ext cx="38100" cy="2200275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743200"/>
            <a:ext cx="38100" cy="22002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405187"/>
            <a:ext cx="1333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81412"/>
            <a:ext cx="1333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957637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233862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10087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405187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681412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957637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233862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510087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457200"/>
            <a:ext cx="4524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91825" y="676275"/>
            <a:ext cx="10763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9 of 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85800"/>
            <a:ext cx="5813226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Benefits and Challenges of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009900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Inter"/>
              </a:rPr>
              <a:t>Benefits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009900"/>
            <a:ext cx="56388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91B1B"/>
                </a:solidFill>
                <a:latin typeface="Inter"/>
              </a:rPr>
              <a:t>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390900"/>
            <a:ext cx="2607468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Inter"/>
              </a:rPr>
              <a:t>Automation of repetitive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667125"/>
            <a:ext cx="17383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Inter"/>
              </a:rPr>
              <a:t>Faster data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943350"/>
            <a:ext cx="13525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Inter"/>
              </a:rPr>
              <a:t>Personalization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219575"/>
            <a:ext cx="221456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Inter"/>
              </a:rPr>
              <a:t>Pattern detection at scale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495800"/>
            <a:ext cx="303609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4532D"/>
                </a:solidFill>
                <a:latin typeface="Inter"/>
              </a:rPr>
              <a:t>24/7 availability &amp; decision support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00850" y="3390900"/>
            <a:ext cx="188118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Bias &amp; fairness issues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850" y="3667125"/>
            <a:ext cx="204787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Privacy &amp; security 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850" y="3943350"/>
            <a:ext cx="291703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Data quality &amp; transparency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0850" y="4219575"/>
            <a:ext cx="32385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AI hallucinations &amp; high compute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0850" y="4495800"/>
            <a:ext cx="2250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7F1D1D"/>
                </a:solidFill>
                <a:latin typeface="Inter"/>
              </a:rPr>
              <a:t>Need for human oversight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0" y="2700337"/>
            <a:ext cx="5638800" cy="2286000"/>
          </a:xfrm>
          <a:prstGeom prst="roundRect">
            <a:avLst>
              <a:gd name="adj" fmla="val 66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76537"/>
            <a:ext cx="5029200" cy="990600"/>
          </a:xfrm>
          <a:prstGeom prst="roundRect">
            <a:avLst>
              <a:gd name="adj" fmla="val 1153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19537"/>
            <a:ext cx="5029200" cy="990600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3005137"/>
            <a:ext cx="5029200" cy="495300"/>
          </a:xfrm>
          <a:prstGeom prst="roundRect">
            <a:avLst>
              <a:gd name="adj" fmla="val 15384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48400" y="4271962"/>
            <a:ext cx="5029200" cy="409575"/>
          </a:xfrm>
          <a:prstGeom prst="roundRect">
            <a:avLst>
              <a:gd name="adj" fmla="val 1860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919537"/>
            <a:ext cx="38100" cy="99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48400" y="3690937"/>
            <a:ext cx="16002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62900" y="3690937"/>
            <a:ext cx="16002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77400" y="3690937"/>
            <a:ext cx="1600200" cy="390525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600" y="457200"/>
            <a:ext cx="40576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34675" y="676275"/>
            <a:ext cx="1133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10 of 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85800"/>
            <a:ext cx="520065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Ethical and Responsible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8350" y="3157537"/>
            <a:ext cx="58293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RESPONSIBLE AI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34050" y="4386262"/>
            <a:ext cx="605790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1E293B"/>
                </a:solidFill>
                <a:latin typeface="Inter"/>
              </a:rPr>
              <a:t>Mandatory Human Oversight &amp; Safe AI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2967037"/>
            <a:ext cx="61007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Core Principles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214687"/>
            <a:ext cx="4743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334155"/>
                </a:solidFill>
                <a:latin typeface="Inter"/>
              </a:rPr>
              <a:t>Fairness across groups, transparency in decision-making, strict privacy, security, and institutional accountability.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4110037"/>
            <a:ext cx="60507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Inter"/>
              </a:rPr>
              <a:t>Fundamental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357687"/>
            <a:ext cx="47053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1E3A8A"/>
                </a:solidFill>
                <a:latin typeface="Inter"/>
              </a:rPr>
              <a:t>AI should support human decision-making rather than blindly replacing human judgment in high-impact situations.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2675" y="3805237"/>
            <a:ext cx="1771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4155"/>
                </a:solidFill>
                <a:latin typeface="Inter"/>
              </a:rPr>
              <a:t>Fairness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7175" y="3805237"/>
            <a:ext cx="1771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4155"/>
                </a:solidFill>
                <a:latin typeface="Inter"/>
              </a:rPr>
              <a:t>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1675" y="3805237"/>
            <a:ext cx="1771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34155"/>
                </a:solidFill>
                <a:latin typeface="Inter"/>
              </a:rPr>
              <a:t>Transparency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00387"/>
            <a:ext cx="35305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600" y="3100387"/>
            <a:ext cx="3530649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750" y="3100387"/>
            <a:ext cx="3530500" cy="148590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5676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Horizon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63250" y="676275"/>
            <a:ext cx="1104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11 of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85800"/>
            <a:ext cx="732591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Future Scope of Artificial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90887"/>
            <a:ext cx="41337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In Use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576637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AI-assisted medical imaging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3795712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Adaptive learning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014787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Customer service chatbots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4233862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Demand forecasting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100" y="3290887"/>
            <a:ext cx="413391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Inter"/>
              </a:rPr>
              <a:t>Emerging (Next Few Years)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100" y="3576637"/>
            <a:ext cx="3937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Multimodal AI (text, image, audio)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1100" y="3795712"/>
            <a:ext cx="3937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AI agents for multi-step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100" y="4014787"/>
            <a:ext cx="3937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AI-assisted software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100" y="4233862"/>
            <a:ext cx="393706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Improved tool use and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2250" y="3290887"/>
            <a:ext cx="394974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nter"/>
              </a:rPr>
              <a:t>Future Possibilities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2250" y="3576637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General-purpose service robots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2250" y="3795712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Widely reliable autonomous systems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2250" y="4014787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Truly personalized healthcare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2250" y="4233862"/>
            <a:ext cx="39368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34155"/>
                </a:solidFill>
                <a:latin typeface="Inter"/>
              </a:rPr>
              <a:t>• Advanced scientific discovery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95537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72200" y="2395537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214687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3214687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033837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4033837"/>
            <a:ext cx="5410200" cy="666750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1604962"/>
            <a:ext cx="180022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34675" y="1824037"/>
            <a:ext cx="1133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12 of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381000" y="4929187"/>
            <a:ext cx="129540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2563EB"/>
                </a:solidFill>
                <a:latin typeface="Inter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833562"/>
            <a:ext cx="223777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547937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Broad Multidisciplinary Field: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ML and Deep Learning enable systems to learn from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2547937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Generative AI Expansion: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Extended capabilities into text, images, audio, and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367087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Cross-Industry Impact: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Applied across healthcare, education, business, finance, and daily life.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2700" y="3367087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Accessible Toolchain: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Python, PyTorch, and Hugging Face make development more accessible.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186237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Responsible Engineering: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Requires fairness, privacy, transparency, security, and human oversight.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2700" y="4186237"/>
            <a:ext cx="51244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Collaborative Horizon: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The future involves humans and intelligent systems working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639490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53150" y="1639490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56321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53150" y="2956321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273153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53150" y="4273153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600" y="5589984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53150" y="5589984"/>
            <a:ext cx="5429250" cy="41910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3381375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Inter"/>
              </a:rPr>
              <a:t>Backmatter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34675" y="676275"/>
            <a:ext cx="11334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13 of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4313039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References &amp;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1772840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IBM: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What is Artificial Intelligence? — ibm.com/topics/artificial-intelligence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1772840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Python Documentation: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docs.python.org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3089671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TensorFlow &amp; PyTorch: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tensorflow.org | pytorch.org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600" y="3089671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Scikit-learn &amp; Hugging Face: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scikit-learn.org | huggingface.co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4406503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Vaswani et al. (2017):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Attention Is All You Need, NeurIPS — arxiv.org/abs/1706.03762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4406503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Goodfellow et al. (2016):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Deep Learning Book, MIT Press — deeplearningbook.org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5723334"/>
            <a:ext cx="635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Stanford HAI: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AI Index Report — aiindex.stanford.edu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5723334"/>
            <a:ext cx="5867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Inter"/>
              </a:rPr>
              <a:t>OECD (2019):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AI Principles — oecd.ai | </a:t>
            </a:r>
            <a:r>
              <a:rPr b="1" sz="975" i="0" u="none">
                <a:solidFill>
                  <a:srgbClr val="334155"/>
                </a:solidFill>
                <a:latin typeface="Inter"/>
              </a:rPr>
              <a:t>NITI Aayog:</a:t>
            </a:r>
            <a:r>
              <a:rPr b="0" sz="975" i="0" u="none">
                <a:solidFill>
                  <a:srgbClr val="334155"/>
                </a:solidFill>
                <a:latin typeface="Inter"/>
              </a:rPr>
              <a:t> National Strategy for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