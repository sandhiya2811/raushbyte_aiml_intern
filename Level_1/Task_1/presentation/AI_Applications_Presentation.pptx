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us Jakarta Sans"/>
      <p:bold r:id="rId12"/>
      <p: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481512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338387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Plus Jakarta Sans"/>
              </a:rPr>
              <a:t>AI/ML INTERNSHIP • LEVEL 1, TASK 1 • RAUSHBYTE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71762"/>
            <a:ext cx="10601325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450" b="1" i="0" u="none">
                <a:solidFill>
                  <a:srgbClr val="F8FAFC"/>
                </a:solidFill>
                <a:latin typeface="Plus Jakarta Sans"/>
              </a:rPr>
              <a:t>Applications of Artificial Intelligence in Healthcare, Education, Business &amp; Daily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995737"/>
            <a:ext cx="161416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Prepared by: Sandhiya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443037"/>
            <a:ext cx="6172200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2475" y="2423582"/>
            <a:ext cx="6172200" cy="504825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62000" y="2119312"/>
            <a:ext cx="6172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1443037"/>
            <a:ext cx="6172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1443037"/>
            <a:ext cx="38100" cy="6858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24675" y="1443037"/>
            <a:ext cx="9525" cy="6858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2927346"/>
            <a:ext cx="6172200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1527" y="2409030"/>
            <a:ext cx="6172200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2000" y="2423582"/>
            <a:ext cx="38100" cy="5048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34202" y="2423581"/>
            <a:ext cx="9525" cy="5048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29525" y="1325836"/>
            <a:ext cx="3800475" cy="704850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629524" y="2285999"/>
            <a:ext cx="3790949" cy="704850"/>
          </a:xfrm>
          <a:prstGeom prst="roundRect">
            <a:avLst>
              <a:gd name="adj" fmla="val 1621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What is Artificial Intelligence?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990600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Systems that perform tasks normally requiring human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1604962"/>
            <a:ext cx="58388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1" u="none" dirty="0">
                <a:solidFill>
                  <a:srgbClr val="0F172A"/>
                </a:solidFill>
                <a:latin typeface="Plus Jakarta Sans"/>
              </a:rPr>
              <a:t>"The science and engineering of making intelligent machines" — John McCarthy (1956)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2558816"/>
            <a:ext cx="428643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166534"/>
                </a:solidFill>
                <a:latin typeface="Plus Jakarta Sans"/>
              </a:rPr>
              <a:t>Modern AI learns from data instead of following rigid hand-written rules.</a:t>
            </a:r>
            <a:r>
              <a:rPr lang="en-US" sz="1125" b="0" i="0" u="none" dirty="0">
                <a:solidFill>
                  <a:srgbClr val="166534"/>
                </a:solidFill>
                <a:latin typeface="Plus Jakarta Sans"/>
              </a:rPr>
              <a:t>  </a:t>
            </a:r>
            <a:endParaRPr sz="1125" b="0" i="0" u="none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67725" y="1559052"/>
            <a:ext cx="2838450" cy="334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284C7"/>
                </a:solidFill>
                <a:latin typeface="Plus Jakarta Sans"/>
              </a:rPr>
              <a:t>Traditional Programming </a:t>
            </a:r>
            <a:r>
              <a:rPr sz="1050" b="1" i="0" u="none" dirty="0">
                <a:solidFill>
                  <a:srgbClr val="475569"/>
                </a:solidFill>
                <a:latin typeface="Plus Jakarta Sans"/>
              </a:rPr>
              <a:t>Rules + Data →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725" y="2586037"/>
            <a:ext cx="28384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6A34A"/>
                </a:solidFill>
                <a:latin typeface="Plus Jakarta Sans"/>
              </a:rPr>
              <a:t>Machine Learning </a:t>
            </a:r>
            <a:r>
              <a:rPr sz="1050" b="1" i="0" u="none" dirty="0">
                <a:solidFill>
                  <a:srgbClr val="475569"/>
                </a:solidFill>
                <a:latin typeface="Plus Jakarta Sans"/>
              </a:rPr>
              <a:t>Data + Answers → Rules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F163A0E-3569-C526-C291-2011AE1F1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7" y="3527951"/>
            <a:ext cx="12124006" cy="23677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62000" y="1066800"/>
            <a:ext cx="345430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68700" y="1066800"/>
            <a:ext cx="3454449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975550" y="1066800"/>
            <a:ext cx="345430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1962150"/>
            <a:ext cx="345430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68700" y="1962150"/>
            <a:ext cx="3454449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75550" y="1962150"/>
            <a:ext cx="345430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Major Areas of Artificial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1228725"/>
            <a:ext cx="41087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1466850"/>
            <a:ext cx="391306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spam filters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625" y="1228725"/>
            <a:ext cx="410891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Deep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625" y="1466850"/>
            <a:ext cx="391324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speech-to-text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7475" y="1228725"/>
            <a:ext cx="40545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NLP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7475" y="1466850"/>
            <a:ext cx="391306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Google Translate, ChatGPT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2124075"/>
            <a:ext cx="41087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Computer 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2362200"/>
            <a:ext cx="391306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face unlock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0625" y="2124075"/>
            <a:ext cx="410891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Generative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0625" y="2362200"/>
            <a:ext cx="391324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GitHub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7475" y="2124075"/>
            <a:ext cx="40545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Robotics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7475" y="2362200"/>
            <a:ext cx="391306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warehouse robots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2225" y="3224212"/>
            <a:ext cx="822602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Hierarchical Relationship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2225" y="3443287"/>
            <a:ext cx="7834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AI is the umbrella; ML is a subset; deep learning is a subset of ML; generative AI is built on deep learning.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1A8E545-EBAE-D5BC-8B21-312996C2F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679" y="3019425"/>
            <a:ext cx="7268642" cy="37285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3895725"/>
            <a:ext cx="10668000" cy="428625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381125"/>
            <a:ext cx="10668000" cy="504825"/>
          </a:xfrm>
          <a:prstGeom prst="roundRect">
            <a:avLst>
              <a:gd name="adj" fmla="val 226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000250"/>
            <a:ext cx="10668000" cy="504825"/>
          </a:xfrm>
          <a:prstGeom prst="roundRect">
            <a:avLst>
              <a:gd name="adj" fmla="val 226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2619375"/>
            <a:ext cx="10668000" cy="504825"/>
          </a:xfrm>
          <a:prstGeom prst="roundRect">
            <a:avLst>
              <a:gd name="adj" fmla="val 226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3238500"/>
            <a:ext cx="10668000" cy="504825"/>
          </a:xfrm>
          <a:prstGeom prst="roundRect">
            <a:avLst>
              <a:gd name="adj" fmla="val 226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4314825"/>
            <a:ext cx="10668000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3895725"/>
            <a:ext cx="10668000" cy="95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" y="3895725"/>
            <a:ext cx="38100" cy="4286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20475" y="3895725"/>
            <a:ext cx="9525" cy="42862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1562100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2181225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800350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419475"/>
            <a:ext cx="1714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AI Applications in Healthcare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990600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Enhancing diagnostic precision and clinical workflow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4019550"/>
            <a:ext cx="112204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6534"/>
                </a:solidFill>
                <a:latin typeface="Plus Jakarta Sans"/>
              </a:rPr>
              <a:t>Key point: AI assists clinicians — it does not replace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1125" y="1533525"/>
            <a:ext cx="10810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Medical imaging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 — IDx-DR: first FDA-authorized autonomous AI diagnostic (2018)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1125" y="2152650"/>
            <a:ext cx="10810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Drug discovery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 — AlphaFold: 200M+ protein structures, freely 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1125" y="2771775"/>
            <a:ext cx="10810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Early warning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 — TREWS sepsis system (Johns Hopkins, Nature Medicine 2022)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1125" y="3390900"/>
            <a:ext cx="10810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Monitoring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 — Apple Watch irregular-rhythm alerts (FDA-cleared)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3857625"/>
            <a:ext cx="10668000" cy="428625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419225"/>
            <a:ext cx="5238750" cy="10287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1419225"/>
            <a:ext cx="5238750" cy="10287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2638425"/>
            <a:ext cx="5238750" cy="10287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2638425"/>
            <a:ext cx="5238750" cy="10287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4276725"/>
            <a:ext cx="10668000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3857625"/>
            <a:ext cx="10668000" cy="95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" y="3857625"/>
            <a:ext cx="38100" cy="4286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20475" y="3857625"/>
            <a:ext cx="9525" cy="428625"/>
          </a:xfrm>
          <a:prstGeom prst="rect">
            <a:avLst/>
          </a:prstGeom>
          <a:solidFill>
            <a:srgbClr val="FECA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AI Applications in 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90600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Transforming classrooms with scalable personalized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981450"/>
            <a:ext cx="112204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91B1B"/>
                </a:solidFill>
                <a:latin typeface="Plus Jakarta Sans"/>
              </a:rPr>
              <a:t>Watch-outs: Academic integrity, over-reliance, and privacy of minors.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1619250"/>
            <a:ext cx="635079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284C7"/>
                </a:solidFill>
                <a:latin typeface="Plus Jakarta Sans"/>
              </a:rPr>
              <a:t>Personalized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1885950"/>
            <a:ext cx="4933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Duolingo's adaptive exercises adjusting difficulty based on performance.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1619250"/>
            <a:ext cx="58007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284C7"/>
                </a:solidFill>
                <a:latin typeface="Plus Jakarta Sans"/>
              </a:rPr>
              <a:t>AI Tutors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1885950"/>
            <a:ext cx="4933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Khanmigo (Socratic guidance, helping students think rather than just giving answers).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2838450"/>
            <a:ext cx="635079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284C7"/>
                </a:solidFill>
                <a:latin typeface="Plus Jakarta Sans"/>
              </a:rPr>
              <a:t>Auto-Grading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3105150"/>
            <a:ext cx="4933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ETS e-rater used alongside human raters for consistent essay assessment.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2838450"/>
            <a:ext cx="58007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284C7"/>
                </a:solidFill>
                <a:latin typeface="Plus Jakarta Sans"/>
              </a:rPr>
              <a:t>Accessibility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3105150"/>
            <a:ext cx="4933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Live speech-to-text captions and Immersive Reader for diverse learners.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381125"/>
            <a:ext cx="5981700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943100"/>
            <a:ext cx="5981700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505075"/>
            <a:ext cx="5981700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3067050"/>
            <a:ext cx="5981700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3629025"/>
            <a:ext cx="5981700" cy="447675"/>
          </a:xfrm>
          <a:prstGeom prst="roundRect">
            <a:avLst>
              <a:gd name="adj" fmla="val 2127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AI Applications in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990600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Driving operational efficiency and data-backed decision making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1495425"/>
            <a:ext cx="5734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Chatbots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 — 24/7 customer support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2057400"/>
            <a:ext cx="5734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Recommendations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 — Drive the majority of Netflix viewing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2619375"/>
            <a:ext cx="5734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Fraud Detection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 — Real-time scoring (Mastercard)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3181350"/>
            <a:ext cx="5734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Route Optimization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 — UPS ORION saves ~100M miles/year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3743325"/>
            <a:ext cx="5734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91B1B"/>
                </a:solidFill>
                <a:latin typeface="Plus Jakarta Sans"/>
              </a:rPr>
              <a:t>Cautionary Tale</a:t>
            </a:r>
            <a:r>
              <a:rPr sz="1125" b="1" i="0" u="none">
                <a:solidFill>
                  <a:srgbClr val="7F1D1D"/>
                </a:solidFill>
                <a:latin typeface="Plus Jakarta Sans"/>
              </a:rPr>
              <a:t> — Amazon scrapped a biased recruiting AI (2018)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D5A6AB-F63C-AEB6-3A66-FC47CE812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83" y="4298742"/>
            <a:ext cx="6314018" cy="2356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419225"/>
            <a:ext cx="3454300" cy="1019175"/>
          </a:xfrm>
          <a:prstGeom prst="roundRect">
            <a:avLst>
              <a:gd name="adj" fmla="val 112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700" y="1419225"/>
            <a:ext cx="3454449" cy="1019175"/>
          </a:xfrm>
          <a:prstGeom prst="roundRect">
            <a:avLst>
              <a:gd name="adj" fmla="val 112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75550" y="1419225"/>
            <a:ext cx="3454300" cy="1019175"/>
          </a:xfrm>
          <a:prstGeom prst="roundRect">
            <a:avLst>
              <a:gd name="adj" fmla="val 112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2590800"/>
            <a:ext cx="3454300" cy="1019175"/>
          </a:xfrm>
          <a:prstGeom prst="roundRect">
            <a:avLst>
              <a:gd name="adj" fmla="val 112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68700" y="2590800"/>
            <a:ext cx="3454449" cy="1019175"/>
          </a:xfrm>
          <a:prstGeom prst="roundRect">
            <a:avLst>
              <a:gd name="adj" fmla="val 112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975550" y="2590800"/>
            <a:ext cx="3454300" cy="1019175"/>
          </a:xfrm>
          <a:prstGeom prst="roundRect">
            <a:avLst>
              <a:gd name="adj" fmla="val 112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187" y="1600200"/>
            <a:ext cx="1619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076" y="1600200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213" y="1600200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4375" y="2771775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788" y="2771775"/>
            <a:ext cx="23812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7925" y="2771775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AI in Daily 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990600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Ambient technologies integrated seamlessly into everyday routines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95" y="1885950"/>
            <a:ext cx="405871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Voice Assistants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6431" y="2085975"/>
            <a:ext cx="386543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Siri, Alexa, Google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6472" y="1885950"/>
            <a:ext cx="405890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Search Engines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3113" y="2085975"/>
            <a:ext cx="386562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Semantic ranking &amp; intent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3345" y="1885950"/>
            <a:ext cx="405871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Social Feeds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9981" y="2085975"/>
            <a:ext cx="386543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Algorithmic discovery loops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795" y="3057525"/>
            <a:ext cx="405871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Streaming Picks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431" y="3257550"/>
            <a:ext cx="386543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Personalized recommendations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6472" y="3057525"/>
            <a:ext cx="405890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Maps &amp; Navigation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3113" y="3257550"/>
            <a:ext cx="386562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Live traffic re-routing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3345" y="3057525"/>
            <a:ext cx="405871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Face Unlock &amp; Spam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9981" y="3257550"/>
            <a:ext cx="386543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Biometrics &amp; email filters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381125"/>
            <a:ext cx="523875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1381125"/>
            <a:ext cx="523875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019425"/>
            <a:ext cx="523875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019425"/>
            <a:ext cx="523875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Real-World Case Studies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90600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Problem → Solution → Impact → 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1581150"/>
            <a:ext cx="635079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284C7"/>
                </a:solidFill>
                <a:latin typeface="Plus Jakarta Sans"/>
              </a:rPr>
              <a:t>DeepMind Retinal Screening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1847850"/>
            <a:ext cx="4933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Problem/Solution: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Specialist-level detection where doctors are scarce.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2266950"/>
            <a:ext cx="4933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Impact &amp; Limit: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Early care enabled; requires rigorous localized clinical validation.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275" y="1581150"/>
            <a:ext cx="58007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284C7"/>
                </a:solidFill>
                <a:latin typeface="Plus Jakarta Sans"/>
              </a:rPr>
              <a:t>AlphaFold Protein Folding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275" y="1847850"/>
            <a:ext cx="58007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Problem/Solution: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Years of lab work → minutes of computation.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275" y="2085975"/>
            <a:ext cx="4933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Impact &amp; Limit: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Accelerated biology; computational models still need physical lab testing.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219450"/>
            <a:ext cx="635079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284C7"/>
                </a:solidFill>
                <a:latin typeface="Plus Jakarta Sans"/>
              </a:rPr>
              <a:t>Khanmigo AI Tutoring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3486150"/>
            <a:ext cx="6048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Problem/Solution: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Affordable, scalable Socratic tutoring.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724275"/>
            <a:ext cx="4933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Impact &amp; Limit: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Personalized student guidance; models can still occasionally hallucinate.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3219450"/>
            <a:ext cx="58007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284C7"/>
                </a:solidFill>
                <a:latin typeface="Plus Jakarta Sans"/>
              </a:rPr>
              <a:t>UPS ORION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486150"/>
            <a:ext cx="58007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Problem/Solution: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Complex logistics routing automation.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3724275"/>
            <a:ext cx="4933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Impact &amp; Limit: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Millions of miles saved; required years and massive infrastructure investment.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438524"/>
            <a:ext cx="7137498" cy="428625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381125"/>
            <a:ext cx="3454449" cy="154305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45049" y="1381125"/>
            <a:ext cx="3454449" cy="1543050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Benefits, Challenges &amp; Ethics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90600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Evaluating the trade-offs of modern AI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75" y="3547004"/>
            <a:ext cx="1928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F172A"/>
                </a:solidFill>
                <a:latin typeface="Plus Jakarta Sans"/>
              </a:rPr>
              <a:t>Ethics &amp; Frameworks: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6295" y="3547004"/>
            <a:ext cx="7086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Fairness • Transparency • Accountability • Human oversight (OECD AI Principles, EU AI 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1562100"/>
            <a:ext cx="405890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6A34A"/>
                </a:solidFill>
                <a:latin typeface="Plus Jakarta Sans"/>
              </a:rPr>
              <a:t>Benefits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024" y="1562100"/>
            <a:ext cx="405890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991B1B"/>
                </a:solidFill>
                <a:latin typeface="Plus Jakarta Sans"/>
              </a:rPr>
              <a:t>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1847850"/>
            <a:ext cx="7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66534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1866900"/>
            <a:ext cx="3651312" cy="18097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66534"/>
                </a:solidFill>
                <a:latin typeface="Plus Jakarta Sans"/>
              </a:rPr>
              <a:t>Automation &amp;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2066925"/>
            <a:ext cx="7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66534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425" y="2085975"/>
            <a:ext cx="3651312" cy="18097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66534"/>
                </a:solidFill>
                <a:latin typeface="Plus Jakarta Sans"/>
              </a:rPr>
              <a:t>Accuracy &amp; consistency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2286000"/>
            <a:ext cx="7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66534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425" y="2305050"/>
            <a:ext cx="3651312" cy="18097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66534"/>
                </a:solidFill>
                <a:latin typeface="Plus Jakarta Sans"/>
              </a:rPr>
              <a:t>Personalization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2505075"/>
            <a:ext cx="7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66534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425" y="2524125"/>
            <a:ext cx="3651312" cy="18097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66534"/>
                </a:solidFill>
                <a:latin typeface="Plus Jakarta Sans"/>
              </a:rPr>
              <a:t>24/7 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1274" y="1847850"/>
            <a:ext cx="7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F1D1D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7474" y="1866900"/>
            <a:ext cx="3651312" cy="18097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F1D1D"/>
                </a:solidFill>
                <a:latin typeface="Plus Jakarta Sans"/>
              </a:rPr>
              <a:t>Bias &amp; fairness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1274" y="2066925"/>
            <a:ext cx="7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F1D1D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7474" y="2085975"/>
            <a:ext cx="3651312" cy="18097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F1D1D"/>
                </a:solidFill>
                <a:latin typeface="Plus Jakarta Sans"/>
              </a:rPr>
              <a:t>Privacy &amp;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1274" y="2286000"/>
            <a:ext cx="7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F1D1D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7474" y="2305050"/>
            <a:ext cx="3651312" cy="18097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F1D1D"/>
                </a:solidFill>
                <a:latin typeface="Plus Jakarta Sans"/>
              </a:rPr>
              <a:t>Hallucinations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1274" y="2505075"/>
            <a:ext cx="76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F1D1D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7474" y="2524125"/>
            <a:ext cx="3651312" cy="18097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7F1D1D"/>
                </a:solidFill>
                <a:latin typeface="Plus Jakarta Sans"/>
              </a:rPr>
              <a:t>Job displacement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ACD5116-FFAC-90A9-E988-A0D42C41B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473" y="113211"/>
            <a:ext cx="4103202" cy="66707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049000" y="4763392"/>
            <a:ext cx="3810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975544"/>
            <a:ext cx="114300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37519"/>
            <a:ext cx="1071562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Humans + AI outperform either working alone. Responsible AI development is non-negotiable.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682430"/>
            <a:ext cx="5048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Full report &amp; sources available in repository • Thank You!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CBD8E3E-4433-B469-BA0F-8A6F4A366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944692"/>
            <a:ext cx="7509933" cy="15704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603</Words>
  <Application>Microsoft Office PowerPoint</Application>
  <PresentationFormat>Widescreen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sandy bose</cp:lastModifiedBy>
  <cp:revision>2</cp:revision>
  <dcterms:created xsi:type="dcterms:W3CDTF">2013-01-27T09:14:16Z</dcterms:created>
  <dcterms:modified xsi:type="dcterms:W3CDTF">2026-09-21T07:36:15Z</dcterms:modified>
  <cp:category/>
</cp:coreProperties>
</file>